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72" d="100"/>
          <a:sy n="72" d="100"/>
        </p:scale>
        <p:origin x="882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BE941CA-12E6-9183-9C02-5FD8705F35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D0CC1EC2-B81D-DCD0-1E32-C5833FDB17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C8678D3A-E876-2F06-FC53-59C004959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058E6-A1FC-4254-A0F0-028D0130E301}" type="datetimeFigureOut">
              <a:rPr lang="el-GR" smtClean="0"/>
              <a:t>5/4/2026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3D3500E3-F239-0473-7C6D-CACEAD9F9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158F201E-D9E1-2C92-0E32-4C6E921BB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146D1-FE1D-4783-8E9E-240E5D099D1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204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095057F-D9E6-4CDA-BE23-BC2EEF984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FC438B6-336A-35DA-C8DF-9FABA10F73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BDD277C9-D4EE-819E-DCFE-AD0BA3520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058E6-A1FC-4254-A0F0-028D0130E301}" type="datetimeFigureOut">
              <a:rPr lang="el-GR" smtClean="0"/>
              <a:t>5/4/2026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2A13989E-6F7A-9379-DBCF-025AA34EB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84F73AC9-A2BA-2B8D-33F9-F1A739B02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146D1-FE1D-4783-8E9E-240E5D099D1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85611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3396A24-5C42-A1E8-AB9F-EE455AFCB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011E11D0-D9CD-8258-9A7E-F2151C6D5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3968071F-94B4-E460-38BF-E45BEB5F7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058E6-A1FC-4254-A0F0-028D0130E301}" type="datetimeFigureOut">
              <a:rPr lang="el-GR" smtClean="0"/>
              <a:t>5/4/2026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B90741AA-DD02-C449-A10F-155CBA49C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B1BC92E3-C8F4-1E0E-74E7-4A2C7A78D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146D1-FE1D-4783-8E9E-240E5D099D1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62726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6E66071-748E-1316-EB7B-F9FE7FE1F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4DC1E1A-33B1-1093-CD18-0C5B16E37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3A231FEE-D28C-FBF4-AF04-50042AF98D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F627AD3E-B216-768E-BBCA-A07A7E3CD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058E6-A1FC-4254-A0F0-028D0130E301}" type="datetimeFigureOut">
              <a:rPr lang="el-GR" smtClean="0"/>
              <a:t>5/4/2026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88E6C425-C394-F9AF-0D67-49F34A720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6CCAB3C9-81EB-2775-F883-E12AA606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146D1-FE1D-4783-8E9E-240E5D099D1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859118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4E5E2D2-820E-79F9-DC8D-5608EB4AA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A67B59A3-DEDB-62CC-2F47-D96EB2C57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Θέση περιεχομένου 3">
            <a:extLst>
              <a:ext uri="{FF2B5EF4-FFF2-40B4-BE49-F238E27FC236}">
                <a16:creationId xmlns:a16="http://schemas.microsoft.com/office/drawing/2014/main" id="{93F5674D-392B-7E8B-2DD7-8EB74F2630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5" name="Θέση κειμένου 4">
            <a:extLst>
              <a:ext uri="{FF2B5EF4-FFF2-40B4-BE49-F238E27FC236}">
                <a16:creationId xmlns:a16="http://schemas.microsoft.com/office/drawing/2014/main" id="{107BC1B7-438C-A4C1-824F-CC53858BF8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916FE640-F8D2-5C4A-D506-8B2CA810F9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7" name="Θέση ημερομηνίας 6">
            <a:extLst>
              <a:ext uri="{FF2B5EF4-FFF2-40B4-BE49-F238E27FC236}">
                <a16:creationId xmlns:a16="http://schemas.microsoft.com/office/drawing/2014/main" id="{BB4C29D0-4E6A-EC78-4242-274A376CA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058E6-A1FC-4254-A0F0-028D0130E301}" type="datetimeFigureOut">
              <a:rPr lang="el-GR" smtClean="0"/>
              <a:t>5/4/2026</a:t>
            </a:fld>
            <a:endParaRPr lang="el-GR"/>
          </a:p>
        </p:txBody>
      </p:sp>
      <p:sp>
        <p:nvSpPr>
          <p:cNvPr id="8" name="Θέση υποσέλιδου 7">
            <a:extLst>
              <a:ext uri="{FF2B5EF4-FFF2-40B4-BE49-F238E27FC236}">
                <a16:creationId xmlns:a16="http://schemas.microsoft.com/office/drawing/2014/main" id="{E1D9C22F-44C4-08BE-E06B-ACC378E7B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Θέση αριθμού διαφάνειας 8">
            <a:extLst>
              <a:ext uri="{FF2B5EF4-FFF2-40B4-BE49-F238E27FC236}">
                <a16:creationId xmlns:a16="http://schemas.microsoft.com/office/drawing/2014/main" id="{4385A4E7-770F-3858-1222-7D91AE3EF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146D1-FE1D-4783-8E9E-240E5D099D1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04673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B4492A9-D7C2-B33F-0583-6C11701DB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ημερομηνίας 2">
            <a:extLst>
              <a:ext uri="{FF2B5EF4-FFF2-40B4-BE49-F238E27FC236}">
                <a16:creationId xmlns:a16="http://schemas.microsoft.com/office/drawing/2014/main" id="{749CF537-F81D-3324-7075-C71DA2A67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058E6-A1FC-4254-A0F0-028D0130E301}" type="datetimeFigureOut">
              <a:rPr lang="el-GR" smtClean="0"/>
              <a:t>5/4/2026</a:t>
            </a:fld>
            <a:endParaRPr lang="el-GR"/>
          </a:p>
        </p:txBody>
      </p:sp>
      <p:sp>
        <p:nvSpPr>
          <p:cNvPr id="4" name="Θέση υποσέλιδου 3">
            <a:extLst>
              <a:ext uri="{FF2B5EF4-FFF2-40B4-BE49-F238E27FC236}">
                <a16:creationId xmlns:a16="http://schemas.microsoft.com/office/drawing/2014/main" id="{3944B2D8-B5F4-B0E8-A96F-B3CAFCDC7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Θέση αριθμού διαφάνειας 4">
            <a:extLst>
              <a:ext uri="{FF2B5EF4-FFF2-40B4-BE49-F238E27FC236}">
                <a16:creationId xmlns:a16="http://schemas.microsoft.com/office/drawing/2014/main" id="{923D1564-1010-AD54-C73D-4394A462B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146D1-FE1D-4783-8E9E-240E5D099D1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97853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>
            <a:extLst>
              <a:ext uri="{FF2B5EF4-FFF2-40B4-BE49-F238E27FC236}">
                <a16:creationId xmlns:a16="http://schemas.microsoft.com/office/drawing/2014/main" id="{E600A7E8-9571-1734-009D-5BB53E126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058E6-A1FC-4254-A0F0-028D0130E301}" type="datetimeFigureOut">
              <a:rPr lang="el-GR" smtClean="0"/>
              <a:t>5/4/2026</a:t>
            </a:fld>
            <a:endParaRPr lang="el-GR"/>
          </a:p>
        </p:txBody>
      </p:sp>
      <p:sp>
        <p:nvSpPr>
          <p:cNvPr id="3" name="Θέση υποσέλιδου 2">
            <a:extLst>
              <a:ext uri="{FF2B5EF4-FFF2-40B4-BE49-F238E27FC236}">
                <a16:creationId xmlns:a16="http://schemas.microsoft.com/office/drawing/2014/main" id="{C0C3CD46-9AB6-86B2-0BC3-D49924C88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>
            <a:extLst>
              <a:ext uri="{FF2B5EF4-FFF2-40B4-BE49-F238E27FC236}">
                <a16:creationId xmlns:a16="http://schemas.microsoft.com/office/drawing/2014/main" id="{9A7C5C74-1023-8B84-F58E-5EF6ED392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146D1-FE1D-4783-8E9E-240E5D099D1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59967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A2A687E-FD4D-E5E2-623A-222595583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307D6567-4527-1853-B667-7E2BD268EA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CF6E779E-9706-9F60-6BB4-0AF7D1FFF7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6D3F6789-FE38-6FED-4002-E4433DB91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058E6-A1FC-4254-A0F0-028D0130E301}" type="datetimeFigureOut">
              <a:rPr lang="el-GR" smtClean="0"/>
              <a:t>5/4/2026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34D0E378-3FE3-FD63-FF9F-F70E83443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B3CAA7A2-BD8D-7B21-F959-C2C3CC962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146D1-FE1D-4783-8E9E-240E5D099D1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78598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74B3DCF-8D05-64E8-EDF3-C3D2A4A85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εικόνας 2">
            <a:extLst>
              <a:ext uri="{FF2B5EF4-FFF2-40B4-BE49-F238E27FC236}">
                <a16:creationId xmlns:a16="http://schemas.microsoft.com/office/drawing/2014/main" id="{174E435A-A2B4-6AB8-745C-FD4C41981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>
            <a:extLst>
              <a:ext uri="{FF2B5EF4-FFF2-40B4-BE49-F238E27FC236}">
                <a16:creationId xmlns:a16="http://schemas.microsoft.com/office/drawing/2014/main" id="{475119F0-2643-3282-3A35-17384EFA4A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Θέση ημερομηνίας 4">
            <a:extLst>
              <a:ext uri="{FF2B5EF4-FFF2-40B4-BE49-F238E27FC236}">
                <a16:creationId xmlns:a16="http://schemas.microsoft.com/office/drawing/2014/main" id="{93A4EF97-6BF4-EEEF-1418-849E6C9B7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058E6-A1FC-4254-A0F0-028D0130E301}" type="datetimeFigureOut">
              <a:rPr lang="el-GR" smtClean="0"/>
              <a:t>5/4/2026</a:t>
            </a:fld>
            <a:endParaRPr lang="el-GR"/>
          </a:p>
        </p:txBody>
      </p:sp>
      <p:sp>
        <p:nvSpPr>
          <p:cNvPr id="6" name="Θέση υποσέλιδου 5">
            <a:extLst>
              <a:ext uri="{FF2B5EF4-FFF2-40B4-BE49-F238E27FC236}">
                <a16:creationId xmlns:a16="http://schemas.microsoft.com/office/drawing/2014/main" id="{E2D9A099-4186-3FBF-EB86-BED30FC8C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Θέση αριθμού διαφάνειας 6">
            <a:extLst>
              <a:ext uri="{FF2B5EF4-FFF2-40B4-BE49-F238E27FC236}">
                <a16:creationId xmlns:a16="http://schemas.microsoft.com/office/drawing/2014/main" id="{492E2791-B374-2C2C-6FBF-15FD7396E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146D1-FE1D-4783-8E9E-240E5D099D1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23619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6C48911-0CE5-8314-D8BA-B5A524801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ADC5A1C1-8347-4274-B720-CBE9E3F284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A9DD2BB5-CDBC-72A8-3D4A-BF0ACEE72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058E6-A1FC-4254-A0F0-028D0130E301}" type="datetimeFigureOut">
              <a:rPr lang="el-GR" smtClean="0"/>
              <a:t>5/4/2026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D3B8700E-3EE7-4ABF-D09A-367AFBE0E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C819B3CA-C149-77F0-3B3A-0FE2FDD31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146D1-FE1D-4783-8E9E-240E5D099D1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33287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>
            <a:extLst>
              <a:ext uri="{FF2B5EF4-FFF2-40B4-BE49-F238E27FC236}">
                <a16:creationId xmlns:a16="http://schemas.microsoft.com/office/drawing/2014/main" id="{57D391D6-85BE-68B3-50FA-216F7B799C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ατακόρυφου κειμένου 2">
            <a:extLst>
              <a:ext uri="{FF2B5EF4-FFF2-40B4-BE49-F238E27FC236}">
                <a16:creationId xmlns:a16="http://schemas.microsoft.com/office/drawing/2014/main" id="{409A24ED-D15F-D3F5-0206-8105E9CA92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C73AB9C3-6B63-1BD0-F320-D43990334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058E6-A1FC-4254-A0F0-028D0130E301}" type="datetimeFigureOut">
              <a:rPr lang="el-GR" smtClean="0"/>
              <a:t>5/4/2026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C08539D6-CEE5-975A-1151-7231BF0C1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AE305E1A-7EB0-91B4-BB9F-566B14C40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146D1-FE1D-4783-8E9E-240E5D099D1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06517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>
            <a:extLst>
              <a:ext uri="{FF2B5EF4-FFF2-40B4-BE49-F238E27FC236}">
                <a16:creationId xmlns:a16="http://schemas.microsoft.com/office/drawing/2014/main" id="{A5B56D74-A8DD-B5E8-E26A-BCF320FAA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</a:p>
        </p:txBody>
      </p:sp>
      <p:sp>
        <p:nvSpPr>
          <p:cNvPr id="3" name="Θέση κειμένου 2">
            <a:extLst>
              <a:ext uri="{FF2B5EF4-FFF2-40B4-BE49-F238E27FC236}">
                <a16:creationId xmlns:a16="http://schemas.microsoft.com/office/drawing/2014/main" id="{584BCA79-CB3C-CEC2-D576-0EA7621EC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284DAC3E-7939-67B9-2A7A-2C9106315D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058E6-A1FC-4254-A0F0-028D0130E301}" type="datetimeFigureOut">
              <a:rPr lang="el-GR" smtClean="0"/>
              <a:t>5/4/2026</a:t>
            </a:fld>
            <a:endParaRPr lang="el-GR"/>
          </a:p>
        </p:txBody>
      </p:sp>
      <p:sp>
        <p:nvSpPr>
          <p:cNvPr id="5" name="Θέση υποσέλιδου 4">
            <a:extLst>
              <a:ext uri="{FF2B5EF4-FFF2-40B4-BE49-F238E27FC236}">
                <a16:creationId xmlns:a16="http://schemas.microsoft.com/office/drawing/2014/main" id="{F6E7C5AA-9299-901F-A952-14FD538792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Θέση αριθμού διαφάνειας 5">
            <a:extLst>
              <a:ext uri="{FF2B5EF4-FFF2-40B4-BE49-F238E27FC236}">
                <a16:creationId xmlns:a16="http://schemas.microsoft.com/office/drawing/2014/main" id="{5DEE768C-1DB6-0E4A-FEA0-EC5370A9EE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5146D1-FE1D-4783-8E9E-240E5D099D1B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13035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A41E52E-DB91-359A-D88A-588039FA91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124200"/>
            <a:ext cx="9144000" cy="2387600"/>
          </a:xfrm>
        </p:spPr>
        <p:txBody>
          <a:bodyPr/>
          <a:lstStyle/>
          <a:p>
            <a:r>
              <a:rPr lang="el-GR" b="1" dirty="0"/>
              <a:t>Ανάλυση Δεδομένων </a:t>
            </a:r>
            <a:r>
              <a:rPr lang="el-GR" b="1" dirty="0" err="1"/>
              <a:t>Airbnb</a:t>
            </a:r>
            <a:r>
              <a:rPr lang="el-GR" b="1" dirty="0"/>
              <a:t> με χρήση SQL</a:t>
            </a:r>
          </a:p>
        </p:txBody>
      </p:sp>
      <p:pic>
        <p:nvPicPr>
          <p:cNvPr id="7" name="Εικόνα 6">
            <a:extLst>
              <a:ext uri="{FF2B5EF4-FFF2-40B4-BE49-F238E27FC236}">
                <a16:creationId xmlns:a16="http://schemas.microsoft.com/office/drawing/2014/main" id="{FE9F33F9-C122-CC99-0A6B-F2FAA6A251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774" y="0"/>
            <a:ext cx="8680174" cy="3048000"/>
          </a:xfrm>
          <a:prstGeom prst="rect">
            <a:avLst/>
          </a:prstGeom>
          <a:effectLst>
            <a:outerShdw dir="21540000" sx="101000" sy="101000" algn="ctr" rotWithShape="0">
              <a:srgbClr val="000000">
                <a:alpha val="1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44016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11F1FF3-B163-D58B-DBCC-D004FB3C9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287" y="1136513"/>
            <a:ext cx="10515600" cy="5039000"/>
          </a:xfrm>
        </p:spPr>
        <p:txBody>
          <a:bodyPr/>
          <a:lstStyle/>
          <a:p>
            <a:pPr marL="0" indent="0">
              <a:buNone/>
            </a:pPr>
            <a:r>
              <a:rPr lang="el-GR" b="1" dirty="0"/>
              <a:t>ΣΚΟΠΟΣ: </a:t>
            </a:r>
            <a:endParaRPr lang="en-US" dirty="0"/>
          </a:p>
          <a:p>
            <a:pPr marL="0" indent="0">
              <a:buNone/>
            </a:pPr>
            <a:r>
              <a:rPr lang="el-GR" dirty="0"/>
              <a:t>Μετατροπή ακατέργαστων δεδομένων (CSV) σε μια λειτουργική σχεσιακή βάση δεδομένων για λήψη αποφάσεων.</a:t>
            </a:r>
          </a:p>
          <a:p>
            <a:pPr marL="0" indent="0">
              <a:buNone/>
            </a:pPr>
            <a:endParaRPr lang="el-GR" dirty="0"/>
          </a:p>
          <a:p>
            <a:pPr marL="0" indent="0">
              <a:buNone/>
            </a:pPr>
            <a:r>
              <a:rPr lang="el-GR" b="1" dirty="0"/>
              <a:t>ΒΗΜΑΤΑ ΥΛΟΠΟΙΗΣΗΣ:</a:t>
            </a:r>
            <a:endParaRPr lang="el-GR" dirty="0"/>
          </a:p>
          <a:p>
            <a:r>
              <a:rPr lang="el-GR" dirty="0"/>
              <a:t>Δημιουργία Βάσης </a:t>
            </a:r>
            <a:r>
              <a:rPr lang="en-US" b="1" dirty="0"/>
              <a:t>Greek Airbnb</a:t>
            </a:r>
            <a:r>
              <a:rPr lang="en-US" dirty="0"/>
              <a:t> </a:t>
            </a:r>
            <a:r>
              <a:rPr lang="el-GR" dirty="0"/>
              <a:t>με </a:t>
            </a:r>
            <a:r>
              <a:rPr lang="en-US" dirty="0"/>
              <a:t>Collation </a:t>
            </a:r>
            <a:r>
              <a:rPr lang="en-US" dirty="0" err="1"/>
              <a:t>Greek_CI_AI</a:t>
            </a:r>
            <a:r>
              <a:rPr lang="en-US" dirty="0"/>
              <a:t> </a:t>
            </a:r>
            <a:r>
              <a:rPr lang="el-GR" dirty="0"/>
              <a:t>για σωστή αναγνώριση ελληνικών χαρακτήρων.</a:t>
            </a:r>
          </a:p>
          <a:p>
            <a:r>
              <a:rPr lang="el-GR" dirty="0"/>
              <a:t>Εισαγωγή πινάκων: </a:t>
            </a:r>
            <a:r>
              <a:rPr lang="en-US" dirty="0"/>
              <a:t>listings, calendar, reviews.</a:t>
            </a:r>
          </a:p>
          <a:p>
            <a:r>
              <a:rPr lang="en-US" b="1" dirty="0"/>
              <a:t>Data Cleaning:</a:t>
            </a:r>
            <a:r>
              <a:rPr lang="en-US" dirty="0"/>
              <a:t> </a:t>
            </a:r>
            <a:r>
              <a:rPr lang="el-GR" dirty="0"/>
              <a:t>Διαγραφή διπλοτύπων με χρήση </a:t>
            </a:r>
            <a:r>
              <a:rPr lang="en-US" dirty="0"/>
              <a:t>ROW_NUMBER().</a:t>
            </a:r>
          </a:p>
          <a:p>
            <a:pPr marL="0" indent="0">
              <a:buNone/>
            </a:pP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870980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8C7F312-D975-2FAC-8A7F-B9F814A29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87" y="357631"/>
            <a:ext cx="10515600" cy="1325563"/>
          </a:xfrm>
        </p:spPr>
        <p:txBody>
          <a:bodyPr>
            <a:normAutofit fontScale="90000"/>
          </a:bodyPr>
          <a:lstStyle/>
          <a:p>
            <a:br>
              <a:rPr lang="el-GR" sz="27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l-GR" sz="27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l-GR" sz="27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l-GR" sz="27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l-GR" sz="5300" b="1" dirty="0">
                <a:latin typeface="Arial" panose="020B0604020202020204" pitchFamily="34" charset="0"/>
                <a:cs typeface="Arial" panose="020B0604020202020204" pitchFamily="34" charset="0"/>
              </a:rPr>
              <a:t>Προσθήκη Περιορισμών</a:t>
            </a:r>
            <a:br>
              <a:rPr lang="el-GR" b="1" dirty="0"/>
            </a:br>
            <a:br>
              <a:rPr lang="el-GR" b="1" dirty="0"/>
            </a:br>
            <a:endParaRPr lang="el-G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1549661-8951-95C6-79AE-F511D42192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3887" y="1595086"/>
            <a:ext cx="10515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l-GR" altLang="el-G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Ορισμός </a:t>
            </a:r>
            <a:r>
              <a:rPr kumimoji="0" lang="el-GR" altLang="el-G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Primary</a:t>
            </a:r>
            <a:r>
              <a:rPr kumimoji="0" lang="el-GR" altLang="el-G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l-GR" altLang="el-G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Keys</a:t>
            </a:r>
            <a:r>
              <a:rPr kumimoji="0" lang="el-GR" altLang="el-G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kumimoji="0" lang="el-GR" altLang="el-G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l-GR" altLang="el-G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l-GR" altLang="el-G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Σύνδεση πινάκων με </a:t>
            </a:r>
            <a:r>
              <a:rPr kumimoji="0" lang="el-GR" altLang="el-G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Foreign </a:t>
            </a:r>
            <a:r>
              <a:rPr kumimoji="0" lang="el-GR" altLang="el-G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Keys</a:t>
            </a:r>
            <a:r>
              <a:rPr kumimoji="0" lang="el-GR" altLang="el-G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B0C362-7A3E-3542-B39B-378E769F2594}"/>
              </a:ext>
            </a:extLst>
          </p:cNvPr>
          <p:cNvSpPr txBox="1"/>
          <p:nvPr/>
        </p:nvSpPr>
        <p:spPr>
          <a:xfrm>
            <a:off x="377687" y="3429000"/>
            <a:ext cx="804407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600" dirty="0">
                <a:latin typeface="Arial" panose="020B0604020202020204" pitchFamily="34" charset="0"/>
                <a:cs typeface="Arial" panose="020B0604020202020204" pitchFamily="34" charset="0"/>
              </a:rPr>
              <a:t>Καθαρισμός Δεδομένων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l-G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Διόρθωση τύπων δεδομένων (</a:t>
            </a:r>
            <a:r>
              <a:rPr lang="el-GR" sz="2400" dirty="0" err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sz="2400" dirty="0" err="1">
                <a:latin typeface="Arial" panose="020B0604020202020204" pitchFamily="34" charset="0"/>
                <a:cs typeface="Arial" panose="020B0604020202020204" pitchFamily="34" charset="0"/>
              </a:rPr>
              <a:t>Types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) βάσει του </a:t>
            </a:r>
            <a:r>
              <a:rPr lang="el-GR" sz="2400" dirty="0" err="1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el-G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sz="2400" dirty="0" err="1">
                <a:latin typeface="Arial" panose="020B0604020202020204" pitchFamily="34" charset="0"/>
                <a:cs typeface="Arial" panose="020B0604020202020204" pitchFamily="34" charset="0"/>
              </a:rPr>
              <a:t>Dictionary</a:t>
            </a:r>
            <a:endParaRPr lang="el-GR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l-GR" dirty="0"/>
          </a:p>
          <a:p>
            <a:endParaRPr lang="el-GR" dirty="0"/>
          </a:p>
          <a:p>
            <a:endParaRPr lang="el-GR" dirty="0"/>
          </a:p>
          <a:p>
            <a:endParaRPr lang="el-GR" dirty="0"/>
          </a:p>
          <a:p>
            <a:endParaRPr lang="el-GR" dirty="0"/>
          </a:p>
          <a:p>
            <a:endParaRPr lang="el-GR" dirty="0"/>
          </a:p>
          <a:p>
            <a:endParaRPr lang="el-GR" dirty="0"/>
          </a:p>
          <a:p>
            <a:endParaRPr lang="el-GR" dirty="0"/>
          </a:p>
        </p:txBody>
      </p:sp>
      <p:pic>
        <p:nvPicPr>
          <p:cNvPr id="11" name="Εικόνα 10">
            <a:extLst>
              <a:ext uri="{FF2B5EF4-FFF2-40B4-BE49-F238E27FC236}">
                <a16:creationId xmlns:a16="http://schemas.microsoft.com/office/drawing/2014/main" id="{C5FE7824-1F15-06CE-AAC1-3EB1937A36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3998325" y="1648501"/>
            <a:ext cx="435459" cy="43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910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E9700F1B-30CE-FA7D-4C65-C15FBCDBC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2603"/>
            <a:ext cx="13434391" cy="1325563"/>
          </a:xfrm>
        </p:spPr>
        <p:txBody>
          <a:bodyPr>
            <a:normAutofit/>
          </a:bodyPr>
          <a:lstStyle/>
          <a:p>
            <a:r>
              <a:rPr lang="el-GR" sz="4800" b="1" dirty="0"/>
              <a:t>Οικοδεσπότες με φωτογραφία προφίλ</a:t>
            </a:r>
            <a:endParaRPr lang="el-GR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E4F7C73-80FF-4F54-9CF8-F030E78FF3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9056" y="2968041"/>
            <a:ext cx="184731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l-GR" altLang="el-G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l-GR" altLang="el-GR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l-GR" altLang="el-G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l-GR" altLang="el-G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FB21DE-0C9C-4225-FF3B-43387A6B0203}"/>
              </a:ext>
            </a:extLst>
          </p:cNvPr>
          <p:cNvSpPr txBox="1"/>
          <p:nvPr/>
        </p:nvSpPr>
        <p:spPr>
          <a:xfrm>
            <a:off x="95648" y="1558166"/>
            <a:ext cx="10082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Ερώτημα: Πόσοι οικοδεσπότες έχουν φωτογραφία προφίλ;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1B9F76-AE0F-D1FD-4F91-C26369FD40F4}"/>
              </a:ext>
            </a:extLst>
          </p:cNvPr>
          <p:cNvSpPr txBox="1"/>
          <p:nvPr/>
        </p:nvSpPr>
        <p:spPr>
          <a:xfrm>
            <a:off x="240564" y="2444821"/>
            <a:ext cx="65200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COUNT(DISTINCT </a:t>
            </a:r>
            <a:r>
              <a:rPr lang="en-US" dirty="0" err="1"/>
              <a:t>host_id</a:t>
            </a:r>
            <a:r>
              <a:rPr lang="en-US" dirty="0"/>
              <a:t>) AS </a:t>
            </a:r>
            <a:r>
              <a:rPr lang="en-US" dirty="0" err="1"/>
              <a:t>total_hosts_with_pic</a:t>
            </a:r>
            <a:endParaRPr lang="en-US" dirty="0"/>
          </a:p>
          <a:p>
            <a:r>
              <a:rPr lang="en-US" dirty="0"/>
              <a:t>FROM listings</a:t>
            </a:r>
          </a:p>
          <a:p>
            <a:r>
              <a:rPr lang="en-US" dirty="0"/>
              <a:t>WHERE </a:t>
            </a:r>
            <a:r>
              <a:rPr lang="en-US" dirty="0" err="1"/>
              <a:t>host_has_profile_pic</a:t>
            </a:r>
            <a:r>
              <a:rPr lang="en-US" dirty="0"/>
              <a:t> = 1</a:t>
            </a:r>
          </a:p>
          <a:p>
            <a:endParaRPr lang="el-GR" dirty="0"/>
          </a:p>
        </p:txBody>
      </p:sp>
      <p:pic>
        <p:nvPicPr>
          <p:cNvPr id="9" name="Εικόνα 8">
            <a:extLst>
              <a:ext uri="{FF2B5EF4-FFF2-40B4-BE49-F238E27FC236}">
                <a16:creationId xmlns:a16="http://schemas.microsoft.com/office/drawing/2014/main" id="{EF08F048-2C62-979A-C917-9705400013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564" y="3645150"/>
            <a:ext cx="2594239" cy="11187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401CAE3-73B2-E1EB-47D3-9FAFAC8F5D48}"/>
              </a:ext>
            </a:extLst>
          </p:cNvPr>
          <p:cNvSpPr txBox="1"/>
          <p:nvPr/>
        </p:nvSpPr>
        <p:spPr>
          <a:xfrm>
            <a:off x="95648" y="5040915"/>
            <a:ext cx="94186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b="1" dirty="0" err="1"/>
              <a:t>Insight</a:t>
            </a:r>
            <a:r>
              <a:rPr lang="el-GR" b="1" dirty="0"/>
              <a:t>:</a:t>
            </a:r>
            <a:r>
              <a:rPr lang="el-GR" dirty="0"/>
              <a:t> Η ύπαρξη φωτογραφίας προφίλ χτίζει εμπιστοσύνη. Αν το ποσοστό των οικοδεσποτών με φωτογραφία είναι πολύ υψηλό, σημαίνει ότι η κοινότητα δίνει μεγάλη σημασία στην προσωπική επαφή και την αξιοπιστία.</a:t>
            </a:r>
          </a:p>
        </p:txBody>
      </p:sp>
    </p:spTree>
    <p:extLst>
      <p:ext uri="{BB962C8B-B14F-4D97-AF65-F5344CB8AC3E}">
        <p14:creationId xmlns:p14="http://schemas.microsoft.com/office/powerpoint/2010/main" val="3293252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CDB9EBC-4CAF-762A-2965-E6D3D0EED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67" y="0"/>
            <a:ext cx="10515600" cy="1325563"/>
          </a:xfrm>
        </p:spPr>
        <p:txBody>
          <a:bodyPr>
            <a:normAutofit/>
          </a:bodyPr>
          <a:lstStyle/>
          <a:p>
            <a:r>
              <a:rPr lang="el-GR" sz="4800" b="1" dirty="0"/>
              <a:t>Οικοδεσπότες με τα περισσότερα ακίνητα</a:t>
            </a:r>
            <a:endParaRPr lang="el-GR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1FFF3B1-A8B1-A0F8-A402-39C18B1605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067" y="1704425"/>
            <a:ext cx="10717696" cy="34491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l-G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Ερώτημα</a:t>
            </a:r>
            <a:r>
              <a:rPr lang="el-GR" dirty="0">
                <a:solidFill>
                  <a:srgbClr val="FF0000"/>
                </a:solidFill>
              </a:rPr>
              <a:t>: Πόσα καταλύματα έχει ο κάθε οικοδεσπότης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l-GR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host_id</a:t>
            </a:r>
            <a:r>
              <a:rPr lang="en-US" dirty="0"/>
              <a:t>, </a:t>
            </a:r>
            <a:r>
              <a:rPr lang="en-US" dirty="0" err="1"/>
              <a:t>host_name</a:t>
            </a:r>
            <a:r>
              <a:rPr lang="en-US" dirty="0"/>
              <a:t>, COUNT(*) as</a:t>
            </a:r>
            <a:r>
              <a:rPr lang="el-GR" dirty="0"/>
              <a:t> </a:t>
            </a:r>
            <a:r>
              <a:rPr lang="en-US" dirty="0" err="1"/>
              <a:t>NumberOfListings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listings</a:t>
            </a:r>
            <a:endParaRPr lang="el-GR" dirty="0"/>
          </a:p>
          <a:p>
            <a:pPr marL="0" indent="0">
              <a:buNone/>
            </a:pPr>
            <a:r>
              <a:rPr lang="en-US" dirty="0"/>
              <a:t>GROUP BY </a:t>
            </a:r>
            <a:r>
              <a:rPr lang="en-US" dirty="0" err="1"/>
              <a:t>host_id</a:t>
            </a:r>
            <a:r>
              <a:rPr lang="en-US" dirty="0"/>
              <a:t>, </a:t>
            </a:r>
            <a:r>
              <a:rPr lang="en-US" dirty="0" err="1"/>
              <a:t>host_name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ORDER BY </a:t>
            </a:r>
            <a:r>
              <a:rPr lang="en-US" dirty="0" err="1"/>
              <a:t>NumberOfListings</a:t>
            </a:r>
            <a:r>
              <a:rPr lang="en-US" dirty="0"/>
              <a:t> DESC;</a:t>
            </a:r>
            <a:r>
              <a:rPr lang="el-GR" dirty="0"/>
              <a:t> </a:t>
            </a:r>
            <a:endParaRPr 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l-GR" dirty="0">
                <a:solidFill>
                  <a:srgbClr val="FF0000"/>
                </a:solidFill>
              </a:rPr>
              <a:t> </a:t>
            </a:r>
            <a:endParaRPr kumimoji="0" lang="el-GR" altLang="el-GR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Εικόνα 6">
            <a:extLst>
              <a:ext uri="{FF2B5EF4-FFF2-40B4-BE49-F238E27FC236}">
                <a16:creationId xmlns:a16="http://schemas.microsoft.com/office/drawing/2014/main" id="{6E962010-13A4-4C92-A996-D7B9FB487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7132" y="1938336"/>
            <a:ext cx="3152775" cy="29813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602947-EE05-0163-E89E-062CDB104C2A}"/>
              </a:ext>
            </a:extLst>
          </p:cNvPr>
          <p:cNvSpPr txBox="1"/>
          <p:nvPr/>
        </p:nvSpPr>
        <p:spPr>
          <a:xfrm>
            <a:off x="43067" y="5508752"/>
            <a:ext cx="91307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r>
              <a:rPr lang="el-G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Μας επιτρέπει να ξεχωρίσουμε τους "επαγγελματίες" οικοδεσπότες </a:t>
            </a:r>
          </a:p>
          <a:p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από τους "ερασιτέχνες"</a:t>
            </a:r>
          </a:p>
        </p:txBody>
      </p:sp>
    </p:spTree>
    <p:extLst>
      <p:ext uri="{BB962C8B-B14F-4D97-AF65-F5344CB8AC3E}">
        <p14:creationId xmlns:p14="http://schemas.microsoft.com/office/powerpoint/2010/main" val="3881114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E67B571-F381-AD93-B4E2-5998CD623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2459"/>
            <a:ext cx="10515600" cy="1325563"/>
          </a:xfrm>
        </p:spPr>
        <p:txBody>
          <a:bodyPr>
            <a:noAutofit/>
          </a:bodyPr>
          <a:lstStyle/>
          <a:p>
            <a:r>
              <a:rPr lang="el-GR" sz="4000" b="1" dirty="0">
                <a:latin typeface="Arial" panose="020B0604020202020204" pitchFamily="34" charset="0"/>
                <a:cs typeface="Arial" panose="020B0604020202020204" pitchFamily="34" charset="0"/>
              </a:rPr>
              <a:t>Δημοτικότητα &amp; Κρατήσεις (</a:t>
            </a: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Performance)</a:t>
            </a:r>
            <a:endParaRPr lang="el-GR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B3E885A-733C-E94E-B2B6-23CCD2339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2231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l-GR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Ερώτημα: Ποια καταλύματα δεν έχουν καμία αξιολόγηση ;</a:t>
            </a:r>
          </a:p>
          <a:p>
            <a:pPr marL="0" indent="0">
              <a:buNone/>
            </a:pPr>
            <a:endParaRPr lang="el-GR" dirty="0"/>
          </a:p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listing_id</a:t>
            </a:r>
            <a:r>
              <a:rPr lang="en-US" dirty="0"/>
              <a:t>, name </a:t>
            </a:r>
            <a:endParaRPr lang="el-GR" dirty="0"/>
          </a:p>
          <a:p>
            <a:pPr marL="0" indent="0">
              <a:buNone/>
            </a:pPr>
            <a:r>
              <a:rPr lang="en-US" dirty="0"/>
              <a:t>FROM listings </a:t>
            </a:r>
            <a:endParaRPr lang="el-GR" dirty="0"/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listing_id</a:t>
            </a:r>
            <a:r>
              <a:rPr lang="en-US" dirty="0"/>
              <a:t> NOT IN ( SELECT DISTINCT </a:t>
            </a:r>
            <a:r>
              <a:rPr lang="en-US" dirty="0" err="1"/>
              <a:t>listing_id</a:t>
            </a:r>
            <a:r>
              <a:rPr lang="en-US" dirty="0"/>
              <a:t> </a:t>
            </a:r>
            <a:endParaRPr lang="el-GR" dirty="0"/>
          </a:p>
          <a:p>
            <a:pPr marL="0" indent="0">
              <a:buNone/>
            </a:pPr>
            <a:r>
              <a:rPr lang="en-US" dirty="0"/>
              <a:t>FROM reviews </a:t>
            </a:r>
            <a:endParaRPr lang="el-GR" dirty="0"/>
          </a:p>
          <a:p>
            <a:pPr marL="0" indent="0">
              <a:buNone/>
            </a:pPr>
            <a:r>
              <a:rPr lang="en-US" dirty="0"/>
              <a:t>WHERE </a:t>
            </a:r>
            <a:r>
              <a:rPr lang="en-US" dirty="0" err="1"/>
              <a:t>listing_id</a:t>
            </a:r>
            <a:r>
              <a:rPr lang="en-US" dirty="0"/>
              <a:t> IS NOT NULL );</a:t>
            </a:r>
            <a:endParaRPr lang="el-GR" dirty="0"/>
          </a:p>
          <a:p>
            <a:pPr marL="0" indent="0">
              <a:buNone/>
            </a:pPr>
            <a:endParaRPr lang="el-G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l-G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293707F1-FA67-62FB-5A0E-1AA1A5F1AA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979" y="1469951"/>
            <a:ext cx="2895242" cy="41302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412DF7-366A-0B48-EDF1-88B4214E3502}"/>
              </a:ext>
            </a:extLst>
          </p:cNvPr>
          <p:cNvSpPr txBox="1"/>
          <p:nvPr/>
        </p:nvSpPr>
        <p:spPr>
          <a:xfrm>
            <a:off x="0" y="5135464"/>
            <a:ext cx="850789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Insight:</a:t>
            </a:r>
            <a:r>
              <a:rPr lang="el-GR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Ο εντοπισμός καταλυμάτων χωρίς κριτικές μας επιτρέπει να δούμε ποια ακίνητα είναι πιθανώς νέα στην πλατφόρμα ή έχουν χαμηλή ορατότητα</a:t>
            </a:r>
            <a:r>
              <a:rPr lang="el-GR" sz="2800" dirty="0"/>
              <a:t>.</a:t>
            </a:r>
            <a:endParaRPr lang="el-G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064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32EB2AA-2B15-6C58-4A41-2FC71B185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sz="4800" b="1" dirty="0">
                <a:latin typeface="Arial" panose="020B0604020202020204" pitchFamily="34" charset="0"/>
                <a:cs typeface="Arial" panose="020B0604020202020204" pitchFamily="34" charset="0"/>
              </a:rPr>
              <a:t>Συμπεράσματα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BC88E821-43E8-C35A-6E3B-7F4A1E185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Οι περισσότεροι οικοδεσπότες έχουν φωτογραφία προφίλ, γιατί ξέρουν ότι αυτό  χτίζει εμπιστοσύνη.</a:t>
            </a:r>
          </a:p>
          <a:p>
            <a:pPr marL="0" indent="0">
              <a:buNone/>
            </a:pPr>
            <a:endParaRPr lang="el-G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Υπάρχουν οικοδεσπότες με πολλά ακίνητα, γεγονός που δείχνει ότι η αγορά κινείται προς την επαγγελματική διαχείριση</a:t>
            </a:r>
          </a:p>
          <a:p>
            <a:pPr marL="0" indent="0">
              <a:buNone/>
            </a:pPr>
            <a:endParaRPr lang="el-G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Τα καταλύματα </a:t>
            </a:r>
            <a:r>
              <a:rPr lang="el-GR" b="1" dirty="0">
                <a:latin typeface="Arial" panose="020B0604020202020204" pitchFamily="34" charset="0"/>
                <a:cs typeface="Arial" panose="020B0604020202020204" pitchFamily="34" charset="0"/>
              </a:rPr>
              <a:t>χωρίς κριτικές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 αποτελούν είτε νέες εισόδους στην αγορά, είτε ευκαιρίες για βελτίωση της στρατηγικής </a:t>
            </a:r>
            <a:r>
              <a:rPr lang="el-GR" dirty="0" err="1">
                <a:latin typeface="Arial" panose="020B0604020202020204" pitchFamily="34" charset="0"/>
                <a:cs typeface="Arial" panose="020B0604020202020204" pitchFamily="34" charset="0"/>
              </a:rPr>
              <a:t>marketing</a:t>
            </a:r>
            <a:endParaRPr lang="el-G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l-G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l-G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456647607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344</Words>
  <Application>Microsoft Office PowerPoint</Application>
  <PresentationFormat>Ευρεία οθόνη</PresentationFormat>
  <Paragraphs>55</Paragraphs>
  <Slides>7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Θέμα του Office</vt:lpstr>
      <vt:lpstr>Ανάλυση Δεδομένων Airbnb με χρήση SQL</vt:lpstr>
      <vt:lpstr>Παρουσίαση του PowerPoint</vt:lpstr>
      <vt:lpstr>    Προσθήκη Περιορισμών  </vt:lpstr>
      <vt:lpstr>Οικοδεσπότες με φωτογραφία προφίλ</vt:lpstr>
      <vt:lpstr>Οικοδεσπότες με τα περισσότερα ακίνητα</vt:lpstr>
      <vt:lpstr>Δημοτικότητα &amp; Κρατήσεις (Performance)</vt:lpstr>
      <vt:lpstr>Συμπεράσματα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 pslt</dc:creator>
  <cp:lastModifiedBy>anna pslt</cp:lastModifiedBy>
  <cp:revision>3</cp:revision>
  <dcterms:created xsi:type="dcterms:W3CDTF">2026-03-23T19:13:58Z</dcterms:created>
  <dcterms:modified xsi:type="dcterms:W3CDTF">2026-04-05T18:41:55Z</dcterms:modified>
</cp:coreProperties>
</file>